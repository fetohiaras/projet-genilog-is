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2.svg" ContentType="image/svg"/>
  <Override PartName="/ppt/media/image11.png" ContentType="image/png"/>
  <Override PartName="/ppt/media/image22.svg" ContentType="image/svg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8.png" ContentType="image/png"/>
  <Override PartName="/ppt/media/image17.png" ContentType="image/png"/>
  <Override PartName="/ppt/media/image7.svg" ContentType="image/svg"/>
  <Override PartName="/ppt/media/image2.jpeg" ContentType="image/jpeg"/>
  <Override PartName="/ppt/media/image5.png" ContentType="image/png"/>
  <Override PartName="/ppt/media/image14.png" ContentType="image/png"/>
  <Override PartName="/ppt/media/image26.png" ContentType="image/png"/>
  <Override PartName="/ppt/media/image25.png" ContentType="image/png"/>
  <Override PartName="/ppt/media/image27.jpeg" ContentType="image/jpeg"/>
  <Override PartName="/ppt/media/image24.png" ContentType="image/png"/>
  <Override PartName="/ppt/media/image23.png" ContentType="image/png"/>
  <Override PartName="/ppt/media/image20.svg" ContentType="image/svg"/>
  <Override PartName="/ppt/media/image21.png" ContentType="image/png"/>
  <Override PartName="/ppt/media/image19.png" ContentType="image/png"/>
  <Override PartName="/ppt/media/image16.png" ContentType="image/png"/>
  <Override PartName="/ppt/media/image1.jpeg" ContentType="image/jpeg"/>
  <Override PartName="/ppt/media/image10.png" ContentType="image/png"/>
  <Override PartName="/ppt/media/image3.jpeg" ContentType="image/jpeg"/>
  <Override PartName="/ppt/media/image6.png" ContentType="image/png"/>
  <Override PartName="/ppt/media/image15.png" ContentType="image/png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9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9.xml"/><Relationship Id="rId9" Type="http://schemas.openxmlformats.org/officeDocument/2006/relationships/slideMaster" Target="slideMasters/slideMaster10.xml"/><Relationship Id="rId10" Type="http://schemas.openxmlformats.org/officeDocument/2006/relationships/slideMaster" Target="slideMasters/slideMaster11.xml"/><Relationship Id="rId11" Type="http://schemas.openxmlformats.org/officeDocument/2006/relationships/slideMaster" Target="slideMasters/slideMaster12.xml"/><Relationship Id="rId12" Type="http://schemas.openxmlformats.org/officeDocument/2006/relationships/slideMaster" Target="slideMasters/slideMaster13.xml"/><Relationship Id="rId13" Type="http://schemas.openxmlformats.org/officeDocument/2006/relationships/slideMaster" Target="slideMasters/slideMaster14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der 16-9 25-03.jpg"/>
          <p:cNvPicPr/>
          <p:nvPr/>
        </p:nvPicPr>
        <p:blipFill>
          <a:blip r:embed="rId2"/>
          <a:stretch/>
        </p:blipFill>
        <p:spPr>
          <a:xfrm>
            <a:off x="0" y="4047120"/>
            <a:ext cx="12185280" cy="28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pour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éditer le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du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texte-titre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1" descr="der 16-9 25-03.jpg"/>
          <p:cNvPicPr/>
          <p:nvPr/>
        </p:nvPicPr>
        <p:blipFill>
          <a:blip r:embed="rId2"/>
          <a:stretch/>
        </p:blipFill>
        <p:spPr>
          <a:xfrm>
            <a:off x="0" y="4047120"/>
            <a:ext cx="12185280" cy="28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éditer le format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2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360" cy="6844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2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360" cy="684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pour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éditer le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 du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texte-titre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506A42-D72F-4D8D-9B23-74A619ECEE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1" descr="couv 16-9 25-03.jpg"/>
          <p:cNvPicPr/>
          <p:nvPr/>
        </p:nvPicPr>
        <p:blipFill>
          <a:blip r:embed="rId2"/>
          <a:stretch/>
        </p:blipFill>
        <p:spPr>
          <a:xfrm>
            <a:off x="0" y="0"/>
            <a:ext cx="1179720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uez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pou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édit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mat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e-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000" cy="68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uez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pou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édit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mat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 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e-</a:t>
            </a: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000" cy="68439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4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000" cy="68439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  <p:sldLayoutId id="2147483661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360" cy="684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4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360" cy="684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000" cy="68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4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000" cy="68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" descr="int 16-9 25-03.jpg"/>
          <p:cNvPicPr/>
          <p:nvPr/>
        </p:nvPicPr>
        <p:blipFill>
          <a:blip r:embed="rId2"/>
          <a:stretch/>
        </p:blipFill>
        <p:spPr>
          <a:xfrm>
            <a:off x="0" y="0"/>
            <a:ext cx="3339000" cy="68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"/>
          </p:nvPr>
        </p:nvSpPr>
        <p:spPr>
          <a:xfrm>
            <a:off x="2082600" y="4237560"/>
            <a:ext cx="192960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"/>
          </p:nvPr>
        </p:nvSpPr>
        <p:spPr>
          <a:xfrm>
            <a:off x="4368600" y="4237560"/>
            <a:ext cx="1421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639416-3847-4EF2-BA4A-7A8A0F26E3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3"/>
          </p:nvPr>
        </p:nvSpPr>
        <p:spPr>
          <a:xfrm>
            <a:off x="304560" y="4237560"/>
            <a:ext cx="1421640" cy="2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fr-F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fr-F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/>
          <p:nvPr/>
        </p:nvSpPr>
        <p:spPr>
          <a:xfrm>
            <a:off x="2901960" y="3060000"/>
            <a:ext cx="9289440" cy="323928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38" name="Titre 1"/>
          <p:cNvSpPr/>
          <p:nvPr/>
        </p:nvSpPr>
        <p:spPr>
          <a:xfrm>
            <a:off x="3759120" y="3306240"/>
            <a:ext cx="557172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fr-FR" sz="34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Projet WebReport</a:t>
            </a:r>
            <a:endParaRPr b="0" lang="fr-F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itre 1"/>
          <p:cNvSpPr/>
          <p:nvPr/>
        </p:nvSpPr>
        <p:spPr>
          <a:xfrm>
            <a:off x="3780000" y="4968360"/>
            <a:ext cx="55717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CDP : Justine HAZAN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CDP Adj : Théo CRUZ DE ABREU FARIAS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Resp. BDD : Léo BOUTONNET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Resp. Back End : Maël ARCHENAULT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Resp. Front End : Julien METZELARD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6" descr="Logo ENSEA 2021 quadri.psd"/>
          <p:cNvPicPr/>
          <p:nvPr/>
        </p:nvPicPr>
        <p:blipFill>
          <a:blip r:embed="rId1"/>
          <a:stretch/>
        </p:blipFill>
        <p:spPr>
          <a:xfrm>
            <a:off x="6730200" y="635400"/>
            <a:ext cx="1608480" cy="173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9"/>
          <p:cNvSpPr/>
          <p:nvPr/>
        </p:nvSpPr>
        <p:spPr>
          <a:xfrm>
            <a:off x="1118880" y="1296000"/>
            <a:ext cx="968112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Objectif du projet :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Développer une application web nommée « WebReport », destinée à remplacer le suivi papier des temps et budgets dans une PME d’imprimerie.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ous-titre 1"/>
          <p:cNvSpPr/>
          <p:nvPr/>
        </p:nvSpPr>
        <p:spPr>
          <a:xfrm>
            <a:off x="1116720" y="568440"/>
            <a:ext cx="4282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Introduction et contexte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ectangle 10"/>
          <p:cNvSpPr/>
          <p:nvPr/>
        </p:nvSpPr>
        <p:spPr>
          <a:xfrm>
            <a:off x="1200240" y="3895560"/>
            <a:ext cx="923976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Solutions proposées :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Application web multi-plateforme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Accès pour tous les employés et responsables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Gestion de projets, lots et activités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Sécurité via authentification et rôles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ectangle 11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Rectangle 12"/>
          <p:cNvSpPr/>
          <p:nvPr/>
        </p:nvSpPr>
        <p:spPr>
          <a:xfrm>
            <a:off x="1200240" y="2520000"/>
            <a:ext cx="9059760" cy="11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Problèmes identifiés :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77787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Multiples saisies manuelles qui entraînent une perte de temps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77787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Retards d’information pouvant aller de 15 jours à 3 semaines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777877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it-IT" sz="14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Absence de visibilité centralisée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13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ous-titre 4"/>
          <p:cNvSpPr/>
          <p:nvPr/>
        </p:nvSpPr>
        <p:spPr>
          <a:xfrm>
            <a:off x="1116720" y="568440"/>
            <a:ext cx="4282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Organigramme de l’équipe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ectangle 15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3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ectangle 17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700000" y="1379160"/>
            <a:ext cx="7199280" cy="509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2"/>
          <p:cNvSpPr/>
          <p:nvPr/>
        </p:nvSpPr>
        <p:spPr>
          <a:xfrm>
            <a:off x="2900520" y="2793960"/>
            <a:ext cx="9290880" cy="133704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52" name="Titre 4"/>
          <p:cNvSpPr/>
          <p:nvPr/>
        </p:nvSpPr>
        <p:spPr>
          <a:xfrm>
            <a:off x="3438360" y="2760120"/>
            <a:ext cx="398376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fr-FR" sz="2200" strike="noStrike" u="none">
                <a:solidFill>
                  <a:srgbClr val="ffffff"/>
                </a:solidFill>
                <a:effectLst/>
                <a:uFillTx/>
                <a:latin typeface="Myriad Pro"/>
                <a:ea typeface="ヒラギノ角ゴ Pro W3"/>
              </a:rPr>
              <a:t>Front End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7"/>
          <p:cNvSpPr/>
          <p:nvPr/>
        </p:nvSpPr>
        <p:spPr>
          <a:xfrm>
            <a:off x="8951760" y="6469920"/>
            <a:ext cx="29401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9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sp>
        <p:nvSpPr>
          <p:cNvPr id="54" name="Rectangle 8"/>
          <p:cNvSpPr/>
          <p:nvPr/>
        </p:nvSpPr>
        <p:spPr>
          <a:xfrm flipV="1">
            <a:off x="10195200" y="6403320"/>
            <a:ext cx="1619280" cy="4500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55" name="Rectangle 14"/>
          <p:cNvSpPr/>
          <p:nvPr/>
        </p:nvSpPr>
        <p:spPr>
          <a:xfrm>
            <a:off x="888120" y="1099440"/>
            <a:ext cx="9799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14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pic>
        <p:nvPicPr>
          <p:cNvPr id="56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475360" y="14760"/>
            <a:ext cx="7240680" cy="68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Rectangle 20"/>
          <p:cNvSpPr/>
          <p:nvPr/>
        </p:nvSpPr>
        <p:spPr>
          <a:xfrm>
            <a:off x="8951760" y="6469920"/>
            <a:ext cx="2939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5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24"/>
          <p:cNvSpPr/>
          <p:nvPr/>
        </p:nvSpPr>
        <p:spPr>
          <a:xfrm>
            <a:off x="8951760" y="6469920"/>
            <a:ext cx="29401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9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sp>
        <p:nvSpPr>
          <p:cNvPr id="59" name="Rectangle 26"/>
          <p:cNvSpPr/>
          <p:nvPr/>
        </p:nvSpPr>
        <p:spPr>
          <a:xfrm flipV="1">
            <a:off x="10195200" y="6403320"/>
            <a:ext cx="1619280" cy="4500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0" name="Rectangle 27"/>
          <p:cNvSpPr/>
          <p:nvPr/>
        </p:nvSpPr>
        <p:spPr>
          <a:xfrm>
            <a:off x="888120" y="1099440"/>
            <a:ext cx="9799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14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pic>
        <p:nvPicPr>
          <p:cNvPr id="61" name="Image 2" descr="Une image contenant texte, diagramme, capture d’écran, Plan&#10;&#10;Le contenu généré par l’IA peut être incorrect."/>
          <p:cNvPicPr/>
          <p:nvPr/>
        </p:nvPicPr>
        <p:blipFill>
          <a:blip r:embed="rId1"/>
          <a:srcRect l="0" t="0" r="39399" b="-329"/>
          <a:stretch/>
        </p:blipFill>
        <p:spPr>
          <a:xfrm>
            <a:off x="1371600" y="140760"/>
            <a:ext cx="9156600" cy="656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Rectangle 21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6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28"/>
          <p:cNvSpPr/>
          <p:nvPr/>
        </p:nvSpPr>
        <p:spPr>
          <a:xfrm>
            <a:off x="8951760" y="6469920"/>
            <a:ext cx="29401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9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sp>
        <p:nvSpPr>
          <p:cNvPr id="64" name="Rectangle 40"/>
          <p:cNvSpPr/>
          <p:nvPr/>
        </p:nvSpPr>
        <p:spPr>
          <a:xfrm flipV="1">
            <a:off x="10195200" y="6403320"/>
            <a:ext cx="1619280" cy="4500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5" name="Rectangle 41"/>
          <p:cNvSpPr/>
          <p:nvPr/>
        </p:nvSpPr>
        <p:spPr>
          <a:xfrm>
            <a:off x="888120" y="1099440"/>
            <a:ext cx="9799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14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pic>
        <p:nvPicPr>
          <p:cNvPr id="66" name="Image 1" descr=""/>
          <p:cNvPicPr/>
          <p:nvPr/>
        </p:nvPicPr>
        <p:blipFill>
          <a:blip r:embed="rId1"/>
          <a:stretch/>
        </p:blipFill>
        <p:spPr>
          <a:xfrm>
            <a:off x="3074400" y="614520"/>
            <a:ext cx="5438160" cy="56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Rectangle 22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7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43"/>
          <p:cNvSpPr/>
          <p:nvPr/>
        </p:nvSpPr>
        <p:spPr>
          <a:xfrm flipV="1">
            <a:off x="10195200" y="6403320"/>
            <a:ext cx="1619280" cy="4500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69" name="Rectangle 44"/>
          <p:cNvSpPr/>
          <p:nvPr/>
        </p:nvSpPr>
        <p:spPr>
          <a:xfrm>
            <a:off x="888120" y="1099440"/>
            <a:ext cx="9799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14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pic>
        <p:nvPicPr>
          <p:cNvPr id="70" name="Picture 2" descr=""/>
          <p:cNvPicPr/>
          <p:nvPr/>
        </p:nvPicPr>
        <p:blipFill>
          <a:blip r:embed="rId1"/>
          <a:stretch/>
        </p:blipFill>
        <p:spPr>
          <a:xfrm>
            <a:off x="3510000" y="276120"/>
            <a:ext cx="5171400" cy="63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Rectangle 89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8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45"/>
          <p:cNvSpPr/>
          <p:nvPr/>
        </p:nvSpPr>
        <p:spPr>
          <a:xfrm>
            <a:off x="8951760" y="6469920"/>
            <a:ext cx="294012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9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sp>
        <p:nvSpPr>
          <p:cNvPr id="73" name="Rectangle 46"/>
          <p:cNvSpPr/>
          <p:nvPr/>
        </p:nvSpPr>
        <p:spPr>
          <a:xfrm flipV="1">
            <a:off x="10195200" y="6403320"/>
            <a:ext cx="1619280" cy="4500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47"/>
          <p:cNvSpPr/>
          <p:nvPr/>
        </p:nvSpPr>
        <p:spPr>
          <a:xfrm>
            <a:off x="888120" y="1099440"/>
            <a:ext cx="97995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it-IT" sz="1400" strike="noStrike" u="none">
              <a:solidFill>
                <a:srgbClr val="777877"/>
              </a:solidFill>
              <a:effectLst/>
              <a:uFillTx/>
              <a:latin typeface="Myriad Pro"/>
            </a:endParaRPr>
          </a:p>
        </p:txBody>
      </p:sp>
      <p:pic>
        <p:nvPicPr>
          <p:cNvPr id="75" name="Graphic 1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379760" y="-18000"/>
            <a:ext cx="5819040" cy="659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2"/>
          <p:cNvSpPr/>
          <p:nvPr/>
        </p:nvSpPr>
        <p:spPr>
          <a:xfrm>
            <a:off x="1676520" y="910080"/>
            <a:ext cx="274248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Bloc D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90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9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3"/>
          <p:cNvSpPr/>
          <p:nvPr/>
        </p:nvSpPr>
        <p:spPr>
          <a:xfrm>
            <a:off x="1889640" y="180000"/>
            <a:ext cx="274248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Bloc E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1" descr="A screenshot of a computer screen&#10;&#10;AI-generated content may be incorrect."/>
          <p:cNvPicPr/>
          <p:nvPr/>
        </p:nvPicPr>
        <p:blipFill>
          <a:blip r:embed="rId1"/>
          <a:stretch/>
        </p:blipFill>
        <p:spPr>
          <a:xfrm>
            <a:off x="1401480" y="700560"/>
            <a:ext cx="10118520" cy="613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ectangle 91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10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3066120" y="741960"/>
            <a:ext cx="274248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Bloc F</a:t>
            </a:r>
            <a:endParaRPr b="0" lang="fr-FR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3" descr="A screenshot of a computer program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1947600"/>
            <a:ext cx="12191400" cy="29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Rectangle 92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11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7"/>
          <p:cNvSpPr/>
          <p:nvPr/>
        </p:nvSpPr>
        <p:spPr>
          <a:xfrm>
            <a:off x="983160" y="3447720"/>
            <a:ext cx="9936720" cy="39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Positif :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Travail de tous basé sur un scénario, donc on peut travailler sur une même base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Une fois que l'organisation était là, le travail fut efficace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Cohésion d'équipe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Bonne répartition au sein de l'équipe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897840" y="720000"/>
            <a:ext cx="10261800" cy="20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Critiques :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Front end trop en avance (mauvaise répartiton)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Manque groupe scénario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Chef projet front, allait informer les autres -&gt; brief nécessaire pour reprendre le travail de son équipe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93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12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48"/>
          <p:cNvSpPr/>
          <p:nvPr/>
        </p:nvSpPr>
        <p:spPr>
          <a:xfrm>
            <a:off x="2901600" y="3063960"/>
            <a:ext cx="9289440" cy="221364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8" name="Titre 5"/>
          <p:cNvSpPr/>
          <p:nvPr/>
        </p:nvSpPr>
        <p:spPr>
          <a:xfrm>
            <a:off x="3759120" y="3306240"/>
            <a:ext cx="557172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fr-FR" sz="34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Backend</a:t>
            </a:r>
            <a:endParaRPr b="0" lang="fr-F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itre 6"/>
          <p:cNvSpPr/>
          <p:nvPr/>
        </p:nvSpPr>
        <p:spPr>
          <a:xfrm>
            <a:off x="3759120" y="4444200"/>
            <a:ext cx="55717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LUKAS Maël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fr-FR" sz="23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ARCHENAULT Maël</a:t>
            </a:r>
            <a:endParaRPr b="0" lang="fr-F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3" descr="Logo ENSEA 2021 quadri.psd"/>
          <p:cNvPicPr/>
          <p:nvPr/>
        </p:nvPicPr>
        <p:blipFill>
          <a:blip r:embed="rId1"/>
          <a:stretch/>
        </p:blipFill>
        <p:spPr>
          <a:xfrm>
            <a:off x="6730200" y="635400"/>
            <a:ext cx="1608480" cy="173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ous-titre 12"/>
          <p:cNvSpPr/>
          <p:nvPr/>
        </p:nvSpPr>
        <p:spPr>
          <a:xfrm>
            <a:off x="1116720" y="568440"/>
            <a:ext cx="36201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Rôle du Backend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49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14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50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72360" y="2169720"/>
            <a:ext cx="11814120" cy="285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51"/>
          <p:cNvSpPr/>
          <p:nvPr/>
        </p:nvSpPr>
        <p:spPr>
          <a:xfrm>
            <a:off x="1116720" y="1099440"/>
            <a:ext cx="2939760" cy="54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52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15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53"/>
          <p:cNvSpPr/>
          <p:nvPr/>
        </p:nvSpPr>
        <p:spPr>
          <a:xfrm>
            <a:off x="2393640" y="1626840"/>
            <a:ext cx="6063840" cy="29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Authentification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Gestion des sessions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Validation des données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Communication API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Sécurité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54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9" name="Sous-titre 13"/>
          <p:cNvSpPr/>
          <p:nvPr/>
        </p:nvSpPr>
        <p:spPr>
          <a:xfrm>
            <a:off x="1116720" y="568440"/>
            <a:ext cx="802656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Responsabilités du Backend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55"/>
          <p:cNvSpPr/>
          <p:nvPr/>
        </p:nvSpPr>
        <p:spPr>
          <a:xfrm>
            <a:off x="2900520" y="2793960"/>
            <a:ext cx="9290520" cy="133668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1" name="Titre 2"/>
          <p:cNvSpPr/>
          <p:nvPr/>
        </p:nvSpPr>
        <p:spPr>
          <a:xfrm>
            <a:off x="3438360" y="2760120"/>
            <a:ext cx="3983400" cy="13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ffffff"/>
                </a:solidFill>
                <a:effectLst/>
                <a:uFillTx/>
                <a:latin typeface="Myriad Pro"/>
                <a:ea typeface="ヒラギノ角ゴ Pro W3"/>
              </a:rPr>
              <a:t>Connexion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56"/>
          <p:cNvSpPr/>
          <p:nvPr/>
        </p:nvSpPr>
        <p:spPr>
          <a:xfrm>
            <a:off x="1116720" y="1099440"/>
            <a:ext cx="2939760" cy="54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57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17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58"/>
          <p:cNvSpPr/>
          <p:nvPr/>
        </p:nvSpPr>
        <p:spPr>
          <a:xfrm>
            <a:off x="1479240" y="1600200"/>
            <a:ext cx="6063840" cy="16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Réception depuis le Frontend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Identifiants de connexion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Demande de réinitialisation de mot de passe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Code de vérification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Nouveau mot de passe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59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6" name="Sous-titre 14"/>
          <p:cNvSpPr/>
          <p:nvPr/>
        </p:nvSpPr>
        <p:spPr>
          <a:xfrm>
            <a:off x="1116720" y="568440"/>
            <a:ext cx="802656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Lien avec le Frontend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60"/>
          <p:cNvSpPr/>
          <p:nvPr/>
        </p:nvSpPr>
        <p:spPr>
          <a:xfrm>
            <a:off x="1479240" y="3886200"/>
            <a:ext cx="606384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Envoi vers le Frontend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Lien vers les différentes pages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Messages d’erreur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61"/>
          <p:cNvSpPr/>
          <p:nvPr/>
        </p:nvSpPr>
        <p:spPr>
          <a:xfrm>
            <a:off x="1116720" y="1099440"/>
            <a:ext cx="2939760" cy="54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62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18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63"/>
          <p:cNvSpPr/>
          <p:nvPr/>
        </p:nvSpPr>
        <p:spPr>
          <a:xfrm>
            <a:off x="1479240" y="1600200"/>
            <a:ext cx="6063840" cy="16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Lecture de la BDD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Existence de l’utilisateur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Hash du mot de passe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Vérification de la première connexion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Existence d’un mail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64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2" name="Sous-titre 15"/>
          <p:cNvSpPr/>
          <p:nvPr/>
        </p:nvSpPr>
        <p:spPr>
          <a:xfrm>
            <a:off x="1116720" y="568440"/>
            <a:ext cx="802656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Lien avec la BDD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65"/>
          <p:cNvSpPr/>
          <p:nvPr/>
        </p:nvSpPr>
        <p:spPr>
          <a:xfrm>
            <a:off x="1479240" y="3886200"/>
            <a:ext cx="606384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Modification de la BDD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Mise à jour du mot de passe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Mise à jour du booléen de première connexion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66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19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67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rcRect l="0" t="0" r="0" b="43048"/>
          <a:stretch/>
        </p:blipFill>
        <p:spPr>
          <a:xfrm>
            <a:off x="228600" y="1371600"/>
            <a:ext cx="5942880" cy="401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2"/>
          <a:srcRect l="0" t="56187" r="0" b="0"/>
          <a:stretch/>
        </p:blipFill>
        <p:spPr>
          <a:xfrm>
            <a:off x="6400800" y="1828800"/>
            <a:ext cx="5658840" cy="293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68"/>
          <p:cNvSpPr/>
          <p:nvPr/>
        </p:nvSpPr>
        <p:spPr>
          <a:xfrm>
            <a:off x="2900520" y="2793960"/>
            <a:ext cx="9290520" cy="133668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19" name="Titre 7"/>
          <p:cNvSpPr/>
          <p:nvPr/>
        </p:nvSpPr>
        <p:spPr>
          <a:xfrm>
            <a:off x="3438360" y="2760120"/>
            <a:ext cx="3983400" cy="13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ffffff"/>
                </a:solidFill>
                <a:effectLst/>
                <a:uFillTx/>
                <a:latin typeface="Myriad Pro"/>
                <a:ea typeface="ヒラギノ角ゴ Pro W3"/>
              </a:rPr>
              <a:t>Page Principale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69"/>
          <p:cNvSpPr/>
          <p:nvPr/>
        </p:nvSpPr>
        <p:spPr>
          <a:xfrm>
            <a:off x="1116720" y="1099440"/>
            <a:ext cx="2939760" cy="54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70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21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71"/>
          <p:cNvSpPr/>
          <p:nvPr/>
        </p:nvSpPr>
        <p:spPr>
          <a:xfrm>
            <a:off x="1479240" y="1600200"/>
            <a:ext cx="6063840" cy="16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Réception depuis le Frontend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Paramètres de création/modification/suppression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Demande de récupération de données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Saisies périodiques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Demande de clôture de lot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72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4" name="Sous-titre 16"/>
          <p:cNvSpPr/>
          <p:nvPr/>
        </p:nvSpPr>
        <p:spPr>
          <a:xfrm>
            <a:off x="1116720" y="568440"/>
            <a:ext cx="802656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Lien avec le Frontend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73"/>
          <p:cNvSpPr/>
          <p:nvPr/>
        </p:nvSpPr>
        <p:spPr>
          <a:xfrm>
            <a:off x="1479240" y="3886200"/>
            <a:ext cx="6063840" cy="12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Envoi vers le Frontend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Liste de projets/lots/activités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Informations utilisateur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Message de confirmation/erreur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74"/>
          <p:cNvSpPr/>
          <p:nvPr/>
        </p:nvSpPr>
        <p:spPr>
          <a:xfrm>
            <a:off x="1116720" y="1099440"/>
            <a:ext cx="2939760" cy="54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75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22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76"/>
          <p:cNvSpPr/>
          <p:nvPr/>
        </p:nvSpPr>
        <p:spPr>
          <a:xfrm>
            <a:off x="1479240" y="1600200"/>
            <a:ext cx="6063840" cy="16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Lecture de la BDD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Vérification existence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Récupération projet/lots/activités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Vérification permissions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Récupération informations utilisateur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77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0" name="Sous-titre 17"/>
          <p:cNvSpPr/>
          <p:nvPr/>
        </p:nvSpPr>
        <p:spPr>
          <a:xfrm>
            <a:off x="1116720" y="568440"/>
            <a:ext cx="8026560" cy="8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4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Lien avec la BDD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78"/>
          <p:cNvSpPr/>
          <p:nvPr/>
        </p:nvSpPr>
        <p:spPr>
          <a:xfrm>
            <a:off x="1479240" y="3886200"/>
            <a:ext cx="606384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Modification de la BDD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Création/modification/suppression des projets/lots/activités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Enregistrement des saisies périodiques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1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Clôture lot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79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23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80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rcRect l="0" t="0" r="1315" b="0"/>
          <a:stretch/>
        </p:blipFill>
        <p:spPr>
          <a:xfrm>
            <a:off x="1371600" y="457200"/>
            <a:ext cx="9142920" cy="566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81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24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82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1481400" y="228600"/>
            <a:ext cx="9033480" cy="613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83"/>
          <p:cNvSpPr/>
          <p:nvPr/>
        </p:nvSpPr>
        <p:spPr>
          <a:xfrm>
            <a:off x="2900520" y="2793960"/>
            <a:ext cx="9290520" cy="133668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39" name="Titre 8"/>
          <p:cNvSpPr/>
          <p:nvPr/>
        </p:nvSpPr>
        <p:spPr>
          <a:xfrm>
            <a:off x="3438360" y="2760120"/>
            <a:ext cx="3983400" cy="13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ffffff"/>
                </a:solidFill>
                <a:effectLst/>
                <a:uFillTx/>
                <a:latin typeface="Myriad Pro"/>
                <a:ea typeface="ヒラギノ角ゴ Pro W3"/>
              </a:rPr>
              <a:t>Retour d’expérience 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84"/>
          <p:cNvSpPr/>
          <p:nvPr/>
        </p:nvSpPr>
        <p:spPr>
          <a:xfrm>
            <a:off x="1116720" y="1099440"/>
            <a:ext cx="2939760" cy="54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85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26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86"/>
          <p:cNvSpPr/>
          <p:nvPr/>
        </p:nvSpPr>
        <p:spPr>
          <a:xfrm>
            <a:off x="2393640" y="1626840"/>
            <a:ext cx="6063840" cy="404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Vision erronée du travail à effectuer au début du projet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Difficulté à transformer les idées en visuels clairs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Groupe de 2 → Facilité d’organisation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it-IT" sz="28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Découverte d’un nouveau domaine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87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29"/>
          <p:cNvSpPr/>
          <p:nvPr/>
        </p:nvSpPr>
        <p:spPr>
          <a:xfrm>
            <a:off x="2900520" y="2793960"/>
            <a:ext cx="9290880" cy="1337040"/>
          </a:xfrm>
          <a:prstGeom prst="rect">
            <a:avLst/>
          </a:prstGeom>
          <a:solidFill>
            <a:srgbClr val="a6004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45" name="Titre 3"/>
          <p:cNvSpPr/>
          <p:nvPr/>
        </p:nvSpPr>
        <p:spPr>
          <a:xfrm>
            <a:off x="3438360" y="2760120"/>
            <a:ext cx="398376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ffffff"/>
                </a:solidFill>
                <a:effectLst/>
                <a:uFillTx/>
                <a:latin typeface="Myriad Pro"/>
                <a:ea typeface="ヒラギノ角ゴ Pro W3"/>
              </a:rPr>
              <a:t>Base de Données (BDD)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30"/>
          <p:cNvSpPr/>
          <p:nvPr/>
        </p:nvSpPr>
        <p:spPr>
          <a:xfrm>
            <a:off x="1116720" y="1351440"/>
            <a:ext cx="294012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0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- User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ous-titre 5"/>
          <p:cNvSpPr/>
          <p:nvPr/>
        </p:nvSpPr>
        <p:spPr>
          <a:xfrm>
            <a:off x="1116720" y="568440"/>
            <a:ext cx="362052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9e003b"/>
                </a:solidFill>
                <a:effectLst/>
                <a:uFillTx/>
                <a:latin typeface="Myriad Pro"/>
                <a:ea typeface="DejaVu Sans"/>
              </a:rPr>
              <a:t>Diagramme UML pour le scenario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31"/>
          <p:cNvSpPr/>
          <p:nvPr/>
        </p:nvSpPr>
        <p:spPr>
          <a:xfrm>
            <a:off x="8951760" y="6469920"/>
            <a:ext cx="2940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28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32"/>
          <p:cNvSpPr/>
          <p:nvPr/>
        </p:nvSpPr>
        <p:spPr>
          <a:xfrm flipV="1">
            <a:off x="10195200" y="6403320"/>
            <a:ext cx="1619280" cy="45000"/>
          </a:xfrm>
          <a:prstGeom prst="rect">
            <a:avLst/>
          </a:prstGeom>
          <a:solidFill>
            <a:srgbClr val="777877">
              <a:alpha val="50000"/>
            </a:srgbClr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143760" y="1132920"/>
            <a:ext cx="2314080" cy="389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33"/>
          <p:cNvSpPr/>
          <p:nvPr/>
        </p:nvSpPr>
        <p:spPr>
          <a:xfrm>
            <a:off x="1116720" y="1099440"/>
            <a:ext cx="29401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0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- User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0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- Projet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0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- Activité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0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- Lot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ous-titre 9"/>
          <p:cNvSpPr/>
          <p:nvPr/>
        </p:nvSpPr>
        <p:spPr>
          <a:xfrm>
            <a:off x="1116720" y="568440"/>
            <a:ext cx="362052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9e003b"/>
                </a:solidFill>
                <a:effectLst/>
                <a:uFillTx/>
                <a:latin typeface="Myriad Pro"/>
                <a:ea typeface="DejaVu Sans"/>
              </a:rPr>
              <a:t>Diagramme UML complet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34"/>
          <p:cNvSpPr/>
          <p:nvPr/>
        </p:nvSpPr>
        <p:spPr>
          <a:xfrm>
            <a:off x="8951760" y="6469920"/>
            <a:ext cx="2940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29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35"/>
          <p:cNvSpPr/>
          <p:nvPr/>
        </p:nvSpPr>
        <p:spPr>
          <a:xfrm flipV="1">
            <a:off x="10195200" y="6403320"/>
            <a:ext cx="1619280" cy="45000"/>
          </a:xfrm>
          <a:prstGeom prst="rect">
            <a:avLst/>
          </a:prstGeom>
          <a:solidFill>
            <a:srgbClr val="777877">
              <a:alpha val="50000"/>
            </a:srgbClr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32040" y="206280"/>
            <a:ext cx="6270480" cy="638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36"/>
          <p:cNvSpPr/>
          <p:nvPr/>
        </p:nvSpPr>
        <p:spPr>
          <a:xfrm>
            <a:off x="1600200" y="1371600"/>
            <a:ext cx="3885840" cy="31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2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+  Communication entre les groupes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2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+ Communication dans le groupe de travail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2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+ Bonne adaptabilité selon les contraintes du client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2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 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37"/>
          <p:cNvSpPr/>
          <p:nvPr/>
        </p:nvSpPr>
        <p:spPr>
          <a:xfrm>
            <a:off x="6400800" y="1402920"/>
            <a:ext cx="3885840" cy="277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2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- Faire plus que demandé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2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- Faire trop grand, trop vite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2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- Mauvaise compréhension du sujet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38"/>
          <p:cNvSpPr/>
          <p:nvPr/>
        </p:nvSpPr>
        <p:spPr>
          <a:xfrm>
            <a:off x="8951760" y="6469920"/>
            <a:ext cx="29401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  <a:ea typeface="DejaVu Sans"/>
              </a:rPr>
              <a:t>30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39"/>
          <p:cNvSpPr/>
          <p:nvPr/>
        </p:nvSpPr>
        <p:spPr>
          <a:xfrm flipV="1">
            <a:off x="10195200" y="6403320"/>
            <a:ext cx="1619280" cy="45000"/>
          </a:xfrm>
          <a:prstGeom prst="rect">
            <a:avLst/>
          </a:prstGeom>
          <a:solidFill>
            <a:srgbClr val="777877">
              <a:alpha val="50000"/>
            </a:srgbClr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60" name="Sous-titre 11"/>
          <p:cNvSpPr/>
          <p:nvPr/>
        </p:nvSpPr>
        <p:spPr>
          <a:xfrm>
            <a:off x="1728720" y="568440"/>
            <a:ext cx="362052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600" strike="noStrike" u="none">
                <a:solidFill>
                  <a:srgbClr val="9e003b"/>
                </a:solidFill>
                <a:effectLst/>
                <a:uFillTx/>
                <a:latin typeface="Myriad Pro"/>
                <a:ea typeface="DejaVu Sans"/>
              </a:rPr>
              <a:t>Critiques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97"/>
          <p:cNvSpPr/>
          <p:nvPr/>
        </p:nvSpPr>
        <p:spPr>
          <a:xfrm>
            <a:off x="2900520" y="2793960"/>
            <a:ext cx="9290880" cy="1337040"/>
          </a:xfrm>
          <a:prstGeom prst="rect">
            <a:avLst/>
          </a:prstGeom>
          <a:solidFill>
            <a:srgbClr val="a6004c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162" name="Titre 9"/>
          <p:cNvSpPr/>
          <p:nvPr/>
        </p:nvSpPr>
        <p:spPr>
          <a:xfrm>
            <a:off x="3438360" y="2760120"/>
            <a:ext cx="3983760" cy="13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2200" strike="noStrike" u="none">
                <a:solidFill>
                  <a:srgbClr val="ffffff"/>
                </a:solidFill>
                <a:effectLst/>
                <a:uFillTx/>
                <a:latin typeface="Myriad Pro"/>
                <a:ea typeface="ヒラギノ角ゴ Pro W3"/>
              </a:rPr>
              <a:t>Management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"/>
          <p:cNvGrpSpPr/>
          <p:nvPr/>
        </p:nvGrpSpPr>
        <p:grpSpPr>
          <a:xfrm>
            <a:off x="0" y="4047120"/>
            <a:ext cx="12184920" cy="2819160"/>
            <a:chOff x="0" y="4047120"/>
            <a:chExt cx="12184920" cy="2819160"/>
          </a:xfrm>
        </p:grpSpPr>
        <p:sp>
          <p:nvSpPr>
            <p:cNvPr id="164" name="Freeform 1" descr="der 16-9 25-03.jpg"/>
            <p:cNvSpPr/>
            <p:nvPr/>
          </p:nvSpPr>
          <p:spPr>
            <a:xfrm>
              <a:off x="0" y="4047120"/>
              <a:ext cx="12184920" cy="2819160"/>
            </a:xfrm>
            <a:custGeom>
              <a:avLst/>
              <a:gdLst>
                <a:gd name="textAreaLeft" fmla="*/ 0 w 12184920"/>
                <a:gd name="textAreaRight" fmla="*/ 12185640 w 12184920"/>
                <a:gd name="textAreaTop" fmla="*/ 0 h 2819160"/>
                <a:gd name="textAreaBottom" fmla="*/ 2819880 h 2819160"/>
              </a:gdLst>
              <a:ahLst/>
              <a:cxnLst/>
              <a:rect l="textAreaLeft" t="textAreaTop" r="textAreaRight" b="textAreaBottom"/>
              <a:pathLst>
                <a:path w="24371300" h="5640451">
                  <a:moveTo>
                    <a:pt x="0" y="0"/>
                  </a:moveTo>
                  <a:lnTo>
                    <a:pt x="24371300" y="0"/>
                  </a:lnTo>
                  <a:lnTo>
                    <a:pt x="24371300" y="5640451"/>
                  </a:lnTo>
                  <a:lnTo>
                    <a:pt x="0" y="564045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5" name="TextBox 5"/>
          <p:cNvSpPr/>
          <p:nvPr/>
        </p:nvSpPr>
        <p:spPr>
          <a:xfrm>
            <a:off x="327960" y="1487520"/>
            <a:ext cx="3811680" cy="38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75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Livrables: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39640" indent="-270000" defTabSz="914400">
              <a:lnSpc>
                <a:spcPts val="375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Organisation du projet: GitHub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Projects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39640" indent="-270000" defTabSz="914400">
              <a:lnSpc>
                <a:spcPts val="375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Communication: Microsoft Teams + e-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mail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39640" indent="-270000" defTabSz="914400">
              <a:lnSpc>
                <a:spcPts val="375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Diagrammes et documents: Draw.io,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documents téchniques rédigés en </a:t>
            </a: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Markdown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3474360" y="360000"/>
            <a:ext cx="524268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72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a6004c"/>
                </a:solidFill>
                <a:effectLst/>
                <a:uFillTx/>
                <a:latin typeface="Open Sans Bold"/>
                <a:ea typeface="Open Sans Bold"/>
              </a:rPr>
              <a:t>Outi</a:t>
            </a:r>
            <a:r>
              <a:rPr b="1" lang="en-US" sz="3600" strike="noStrike" u="none">
                <a:solidFill>
                  <a:srgbClr val="a6004c"/>
                </a:solidFill>
                <a:effectLst/>
                <a:uFillTx/>
                <a:latin typeface="Open Sans Bold"/>
                <a:ea typeface="Open Sans Bold"/>
              </a:rPr>
              <a:t>ls </a:t>
            </a:r>
            <a:r>
              <a:rPr b="1" lang="en-US" sz="3600" strike="noStrike" u="none">
                <a:solidFill>
                  <a:srgbClr val="a6004c"/>
                </a:solidFill>
                <a:effectLst/>
                <a:uFillTx/>
                <a:latin typeface="Open Sans Bold"/>
                <a:ea typeface="Open Sans Bold"/>
              </a:rPr>
              <a:t>tech</a:t>
            </a:r>
            <a:r>
              <a:rPr b="1" lang="en-US" sz="3600" strike="noStrike" u="none">
                <a:solidFill>
                  <a:srgbClr val="a6004c"/>
                </a:solidFill>
                <a:effectLst/>
                <a:uFillTx/>
                <a:latin typeface="Open Sans Bold"/>
                <a:ea typeface="Open Sans Bold"/>
              </a:rPr>
              <a:t>niq</a:t>
            </a:r>
            <a:r>
              <a:rPr b="1" lang="en-US" sz="3600" strike="noStrike" u="none">
                <a:solidFill>
                  <a:srgbClr val="a6004c"/>
                </a:solidFill>
                <a:effectLst/>
                <a:uFillTx/>
                <a:latin typeface="Open Sans Bold"/>
                <a:ea typeface="Open Sans Bold"/>
              </a:rPr>
              <a:t>ues</a:t>
            </a:r>
            <a:endParaRPr b="0" lang="fr-F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Group 3"/>
          <p:cNvGrpSpPr/>
          <p:nvPr/>
        </p:nvGrpSpPr>
        <p:grpSpPr>
          <a:xfrm>
            <a:off x="435960" y="5721840"/>
            <a:ext cx="831600" cy="899280"/>
            <a:chOff x="435960" y="5721840"/>
            <a:chExt cx="831600" cy="899280"/>
          </a:xfrm>
        </p:grpSpPr>
        <p:sp>
          <p:nvSpPr>
            <p:cNvPr id="168" name="Freeform 4" descr="Logo ENSEA 2021 quadri.psd"/>
            <p:cNvSpPr/>
            <p:nvPr/>
          </p:nvSpPr>
          <p:spPr>
            <a:xfrm>
              <a:off x="435960" y="5721840"/>
              <a:ext cx="831600" cy="899280"/>
            </a:xfrm>
            <a:custGeom>
              <a:avLst/>
              <a:gdLst>
                <a:gd name="textAreaLeft" fmla="*/ 0 w 831600"/>
                <a:gd name="textAreaRight" fmla="*/ 832320 w 831600"/>
                <a:gd name="textAreaTop" fmla="*/ 0 h 899280"/>
                <a:gd name="textAreaBottom" fmla="*/ 900000 h 899280"/>
              </a:gdLst>
              <a:ahLst/>
              <a:cxnLst/>
              <a:rect l="textAreaLeft" t="textAreaTop" r="textAreaRight" b="textAreaBottom"/>
              <a:pathLst>
                <a:path w="3217672" h="3478276">
                  <a:moveTo>
                    <a:pt x="0" y="0"/>
                  </a:moveTo>
                  <a:lnTo>
                    <a:pt x="3217672" y="0"/>
                  </a:lnTo>
                  <a:lnTo>
                    <a:pt x="3217672" y="3478276"/>
                  </a:lnTo>
                  <a:lnTo>
                    <a:pt x="0" y="347827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69" name="" descr=""/>
          <p:cNvPicPr/>
          <p:nvPr/>
        </p:nvPicPr>
        <p:blipFill>
          <a:blip r:embed="rId3"/>
          <a:stretch/>
        </p:blipFill>
        <p:spPr>
          <a:xfrm>
            <a:off x="4617000" y="1579320"/>
            <a:ext cx="7293600" cy="46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Rectangle 94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32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ous-titre 6"/>
          <p:cNvSpPr/>
          <p:nvPr/>
        </p:nvSpPr>
        <p:spPr>
          <a:xfrm>
            <a:off x="1116720" y="568440"/>
            <a:ext cx="4282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Avancement du projet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16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33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8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4" name=""/>
          <p:cNvGraphicFramePr/>
          <p:nvPr/>
        </p:nvGraphicFramePr>
        <p:xfrm>
          <a:off x="185760" y="1130400"/>
          <a:ext cx="5273280" cy="2653560"/>
        </p:xfrm>
        <a:graphic>
          <a:graphicData uri="http://schemas.openxmlformats.org/drawingml/2006/table">
            <a:tbl>
              <a:tblPr/>
              <a:tblGrid>
                <a:gridCol w="1093320"/>
                <a:gridCol w="3137040"/>
                <a:gridCol w="1043280"/>
              </a:tblGrid>
              <a:tr h="328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Jalons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Objectifs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Etat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84024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V1.0.0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Module de connexion complet (login, première connexion, mot de passe oublié)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En cours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328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V1.1.0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Création de projet, lots, activités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 cours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28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V1.2.0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Saisies périodiques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 venir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328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V1.3.0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Tableau de bord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 venir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75" name="Sous-titre 18"/>
          <p:cNvSpPr/>
          <p:nvPr/>
        </p:nvSpPr>
        <p:spPr>
          <a:xfrm>
            <a:off x="7200000" y="2520000"/>
            <a:ext cx="4282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000" strike="noStrike" u="none">
                <a:solidFill>
                  <a:srgbClr val="9e003b"/>
                </a:solidFill>
                <a:effectLst/>
                <a:uFillTx/>
                <a:latin typeface="Myriad Pro"/>
              </a:rPr>
              <a:t>Fonctionnalités réalisées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6" name=""/>
          <p:cNvGraphicFramePr/>
          <p:nvPr/>
        </p:nvGraphicFramePr>
        <p:xfrm>
          <a:off x="5721120" y="3118320"/>
          <a:ext cx="6119640" cy="3384720"/>
        </p:xfrm>
        <a:graphic>
          <a:graphicData uri="http://schemas.openxmlformats.org/drawingml/2006/table">
            <a:tbl>
              <a:tblPr/>
              <a:tblGrid>
                <a:gridCol w="1067040"/>
                <a:gridCol w="2775240"/>
                <a:gridCol w="2277720"/>
              </a:tblGrid>
              <a:tr h="58428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Composant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Fonctionnalité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58428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Front End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Login / Première connexion / Réinit MDP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Écrans fonctionnels et reliés au Back End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  <a:tr h="84024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Back End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Vérification des identifiants, hashage mot de passe, envoi d’email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Fonctionnel, conforme au scénario d’usage</a:t>
                      </a:r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109620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BDD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Table « Utilisateur »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Champs complets avec intégrité et liens prévus vers Projet/Lots/activités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5"/>
          <p:cNvSpPr/>
          <p:nvPr/>
        </p:nvSpPr>
        <p:spPr>
          <a:xfrm>
            <a:off x="2902320" y="180000"/>
            <a:ext cx="9289440" cy="59616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8" name="Sous-titre 10"/>
          <p:cNvSpPr/>
          <p:nvPr/>
        </p:nvSpPr>
        <p:spPr>
          <a:xfrm>
            <a:off x="3060000" y="217080"/>
            <a:ext cx="4282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FEED BACK :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23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34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25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42"/>
          <p:cNvSpPr/>
          <p:nvPr/>
        </p:nvSpPr>
        <p:spPr>
          <a:xfrm>
            <a:off x="1116720" y="1099440"/>
            <a:ext cx="98625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2" name=""/>
          <p:cNvGraphicFramePr/>
          <p:nvPr/>
        </p:nvGraphicFramePr>
        <p:xfrm>
          <a:off x="524880" y="836640"/>
          <a:ext cx="11325960" cy="2410200"/>
        </p:xfrm>
        <a:graphic>
          <a:graphicData uri="http://schemas.openxmlformats.org/drawingml/2006/table">
            <a:tbl>
              <a:tblPr/>
              <a:tblGrid>
                <a:gridCol w="1095480"/>
                <a:gridCol w="1816560"/>
                <a:gridCol w="8414280"/>
              </a:tblGrid>
              <a:tr h="871560">
                <a:tc rowSpan="3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JUSTINE</a:t>
                      </a:r>
                      <a:endParaRPr b="0" lang="fr-FR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Ce qui a bien fonctionné</a:t>
                      </a:r>
                      <a:endParaRPr b="0" lang="fr-FR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Communication fluide avec les équipes.</a:t>
                      </a:r>
                      <a:endParaRPr b="0" lang="fr-F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Bonne disponibilité et écoute.</a:t>
                      </a:r>
                      <a:endParaRPr b="0" lang="fr-F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Travail efficace en binôme avec le chef de projet adjoint.</a:t>
                      </a:r>
                      <a:endParaRPr b="0" lang="fr-F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Vision globale correcte de l’avancement et des priorités.</a:t>
                      </a:r>
                      <a:endParaRPr b="0" lang="fr-F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6717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Difficultés rencontrées</a:t>
                      </a:r>
                      <a:endParaRPr b="0" lang="fr-FR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Certaines consignes pas assez claires ou détaillées.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Transmission parfois tardive ou incomplète des retours client.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Quelques zones d’ambiguïté dans les tâches à réaliser.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160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Axes d’amélioration</a:t>
                      </a:r>
                      <a:endParaRPr b="0" lang="fr-FR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Être plus précise dans la formulation des tâches et attentes.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Synthétiser plus efficacement les retours client et les transmettre rapidement.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Structurer davantage l’information pour faciliter la compréhension et la coordination.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</a:tbl>
          </a:graphicData>
        </a:graphic>
      </p:graphicFrame>
      <p:sp>
        <p:nvSpPr>
          <p:cNvPr id="183" name="Sous-titre 2"/>
          <p:cNvSpPr/>
          <p:nvPr/>
        </p:nvSpPr>
        <p:spPr>
          <a:xfrm>
            <a:off x="5220000" y="302760"/>
            <a:ext cx="4282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2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Management du projet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4" name=""/>
          <p:cNvGraphicFramePr/>
          <p:nvPr/>
        </p:nvGraphicFramePr>
        <p:xfrm>
          <a:off x="473400" y="3403080"/>
          <a:ext cx="11406600" cy="2872440"/>
        </p:xfrm>
        <a:graphic>
          <a:graphicData uri="http://schemas.openxmlformats.org/drawingml/2006/table">
            <a:tbl>
              <a:tblPr/>
              <a:tblGrid>
                <a:gridCol w="898560"/>
                <a:gridCol w="1625760"/>
                <a:gridCol w="8882280"/>
              </a:tblGrid>
              <a:tr h="891000">
                <a:tc rowSpan="3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r-FR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THÉO</a:t>
                      </a:r>
                      <a:endParaRPr b="0" lang="fr-FR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6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Points positifs</a:t>
                      </a:r>
                      <a:endParaRPr b="0" lang="fr-FR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b="0" lang="fr-FR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Une communication efficace a été maintenue entre les différents groupes, facilitant la coordination générale du projet.</a:t>
                      </a:r>
                      <a:endParaRPr b="0" lang="fr-F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Chaque groupe a produit une documentation bien structurée et accompagnée de ressources pertinentes, ce qui a contribué à une meilleure compréhension globale du système.</a:t>
                      </a:r>
                      <a:endParaRPr b="0" lang="fr-FR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12906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Points d’amélioration</a:t>
                      </a:r>
                      <a:endParaRPr b="0" lang="fr-FR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Une analyse plus approfondie des documents fournis par le client aurait permis d’éviter certaines discussions internes et externes.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La communication avec le client pourrait être optimisée afin de réduire le nombre de points de clarification nécessaires au cours du projet.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Une utilisation et mise à jour plus fréquentes du dépôt de projet sur GitHub amélioreraient l’organisation et la coordination entre les groupes.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6912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r-FR" sz="16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Difficultés rencontrés</a:t>
                      </a:r>
                      <a:endParaRPr b="0" lang="fr-FR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Il a souvent été nécessaire de rafraîchir l’état des activités à chaque session à cause des séances de TP n’étant pas conjointes.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fr-FR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Les contraintes de temps ont limité la possibilité de développer certaines fonctionnalités.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4"/>
          <p:cNvSpPr/>
          <p:nvPr/>
        </p:nvSpPr>
        <p:spPr>
          <a:xfrm>
            <a:off x="1548360" y="468000"/>
            <a:ext cx="9454320" cy="47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Trop long à s'organiser au début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Courier New,monospace"/>
              <a:buChar char="o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Temps pour créer les sous groupes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Courier New,monospace"/>
              <a:buChar char="o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Temps de compréhension de la spécification (temps à réfléchir sans agir)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Courier New,monospace"/>
              <a:buChar char="o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Temps de préparation réunions (global)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Comprendre quoi demander au client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000000"/>
              </a:buClr>
              <a:buFont typeface="Courier New,monospace"/>
              <a:buChar char="o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Quiproquo ce que l'on pense qu'il veut / ce qu'il veut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Espacement des séances :'(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Manque de gâteaux / salaires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19"/>
          <p:cNvSpPr/>
          <p:nvPr/>
        </p:nvSpPr>
        <p:spPr>
          <a:xfrm>
            <a:off x="2902320" y="180000"/>
            <a:ext cx="9289440" cy="59616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7" name="Sous-titre 7"/>
          <p:cNvSpPr/>
          <p:nvPr/>
        </p:nvSpPr>
        <p:spPr>
          <a:xfrm>
            <a:off x="3060000" y="217080"/>
            <a:ext cx="4282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8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FEED BACK : </a:t>
            </a:r>
            <a:endParaRPr b="0" lang="fr-F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ous-titre 8"/>
          <p:cNvSpPr/>
          <p:nvPr/>
        </p:nvSpPr>
        <p:spPr>
          <a:xfrm>
            <a:off x="5220000" y="302760"/>
            <a:ext cx="428256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2200" strike="noStrike" u="none">
                <a:solidFill>
                  <a:srgbClr val="ffffff"/>
                </a:solidFill>
                <a:effectLst/>
                <a:uFillTx/>
                <a:latin typeface="Myriad Pro"/>
              </a:rPr>
              <a:t>Global</a:t>
            </a:r>
            <a:endParaRPr b="0" lang="fr-F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95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35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Picture 5" descr="A screenshot of a diagram&#10;&#10;AI-generated content may be incorrect."/>
          <p:cNvPicPr/>
          <p:nvPr/>
        </p:nvPicPr>
        <p:blipFill>
          <a:blip r:embed="rId1"/>
          <a:stretch/>
        </p:blipFill>
        <p:spPr>
          <a:xfrm>
            <a:off x="0" y="883440"/>
            <a:ext cx="12191400" cy="50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Rectangle 88"/>
          <p:cNvSpPr/>
          <p:nvPr/>
        </p:nvSpPr>
        <p:spPr>
          <a:xfrm>
            <a:off x="7020000" y="502920"/>
            <a:ext cx="5171760" cy="596160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ANNEXE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96"/>
          <p:cNvSpPr/>
          <p:nvPr/>
        </p:nvSpPr>
        <p:spPr>
          <a:xfrm>
            <a:off x="8951760" y="6469920"/>
            <a:ext cx="2939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36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6242040" y="2520000"/>
            <a:ext cx="2939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20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MERCI À VOUS POUR VOTRE ÉCOUTE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3"/>
          <p:cNvSpPr/>
          <p:nvPr/>
        </p:nvSpPr>
        <p:spPr>
          <a:xfrm>
            <a:off x="8951760" y="6469920"/>
            <a:ext cx="2939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it-IT" sz="900" strike="noStrike" u="none">
                <a:solidFill>
                  <a:srgbClr val="777877"/>
                </a:solidFill>
                <a:effectLst/>
                <a:uFillTx/>
                <a:latin typeface="Myriad Pro"/>
              </a:rPr>
              <a:t>37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4"/>
          <p:cNvSpPr/>
          <p:nvPr/>
        </p:nvSpPr>
        <p:spPr>
          <a:xfrm flipV="1">
            <a:off x="10195200" y="6403320"/>
            <a:ext cx="1618920" cy="44640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pic>
        <p:nvPicPr>
          <p:cNvPr id="196" name="Image 5" descr="logo pour der.jpg"/>
          <p:cNvPicPr/>
          <p:nvPr/>
        </p:nvPicPr>
        <p:blipFill>
          <a:blip r:embed="rId1"/>
          <a:stretch/>
        </p:blipFill>
        <p:spPr>
          <a:xfrm>
            <a:off x="2935800" y="1890360"/>
            <a:ext cx="2769480" cy="203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Rectangle 6"/>
          <p:cNvSpPr/>
          <p:nvPr/>
        </p:nvSpPr>
        <p:spPr>
          <a:xfrm>
            <a:off x="5863680" y="1973160"/>
            <a:ext cx="44640" cy="1785960"/>
          </a:xfrm>
          <a:prstGeom prst="rect">
            <a:avLst/>
          </a:prstGeom>
          <a:solidFill>
            <a:srgbClr val="a6004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3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2_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Application>LibreOffice/25.2.6.2$Linux_X86_64 LibreOffice_project/40d1a0e1d5bdf1afaeae24d9ece32bbb00fa66a4</Application>
  <AppVersion>15.0000</AppVersion>
  <Words>1049</Words>
  <Paragraphs>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2021-03-25T13:34:06Z</dcterms:created>
  <dc:creator>ENERGEN ENERGEN</dc:creator>
  <dc:description/>
  <dc:language>fr-FR</dc:language>
  <cp:lastModifiedBy/>
  <dcterms:modified xsi:type="dcterms:W3CDTF">2025-12-08T16:50:00Z</dcterms:modified>
  <cp:revision>12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8</vt:i4>
  </property>
</Properties>
</file>