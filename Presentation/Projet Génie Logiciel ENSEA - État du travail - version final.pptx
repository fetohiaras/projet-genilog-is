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DD91A8-5AE9-4DC4-B150-60A6ECB727E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66FBBC-D954-48B5-85AE-C6F4689D514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5B0C63-E587-49D6-A993-A628E728E87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0DB047-DD4F-4FAD-9E0F-631D6B54B2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1325FF-8D54-461E-B18E-397DFB92FB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3F5776-3C88-40C3-8474-5754BDB912B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88FB4F-C8E0-44A4-B47E-87B0DA4EBB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E6F17A-D6A4-4626-A766-6D62091DF3F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D41C54-293E-4E50-8F8B-E47DAE38F12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8DEABC-9459-4980-969F-714E2ECF79E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EE11EC-AB89-46B8-95E2-A61E936B96F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1"/>
          <p:cNvGrpSpPr/>
          <p:nvPr/>
        </p:nvGrpSpPr>
        <p:grpSpPr>
          <a:xfrm>
            <a:off x="0" y="6070680"/>
            <a:ext cx="18278280" cy="4230000"/>
            <a:chOff x="0" y="6070680"/>
            <a:chExt cx="18278280" cy="4230000"/>
          </a:xfrm>
        </p:grpSpPr>
        <p:sp>
          <p:nvSpPr>
            <p:cNvPr id="60" name="Freeform 1" descr="der 16-9 25-03.jpg"/>
            <p:cNvSpPr/>
            <p:nvPr/>
          </p:nvSpPr>
          <p:spPr>
            <a:xfrm>
              <a:off x="0" y="6070680"/>
              <a:ext cx="18278280" cy="4230000"/>
            </a:xfrm>
            <a:custGeom>
              <a:avLst/>
              <a:gdLst>
                <a:gd name="textAreaLeft" fmla="*/ 0 w 18278280"/>
                <a:gd name="textAreaRight" fmla="*/ 18278640 w 18278280"/>
                <a:gd name="textAreaTop" fmla="*/ 0 h 4230000"/>
                <a:gd name="textAreaBottom" fmla="*/ 4230360 h 4230000"/>
              </a:gdLst>
              <a:ahLst/>
              <a:cxnLst/>
              <a:rect l="textAreaLeft" t="textAreaTop" r="textAreaRight" b="textAreaBottom"/>
              <a:pathLst>
                <a:path w="24371300" h="5640451">
                  <a:moveTo>
                    <a:pt x="0" y="0"/>
                  </a:moveTo>
                  <a:lnTo>
                    <a:pt x="24371300" y="0"/>
                  </a:lnTo>
                  <a:lnTo>
                    <a:pt x="24371300" y="5640451"/>
                  </a:lnTo>
                  <a:lnTo>
                    <a:pt x="0" y="564045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1"/>
          <p:cNvSpPr/>
          <p:nvPr/>
        </p:nvSpPr>
        <p:spPr>
          <a:xfrm>
            <a:off x="492120" y="2231280"/>
            <a:ext cx="6063480" cy="47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50"/>
              </a:lnSpc>
            </a:pPr>
            <a:r>
              <a:rPr b="1" lang="en-US" sz="25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Livrables:</a:t>
            </a:r>
            <a:endParaRPr b="0" lang="fr-F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39640" indent="-270000" defTabSz="914400">
              <a:lnSpc>
                <a:spcPts val="375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5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Organisation du projet: GitHub Projects</a:t>
            </a:r>
            <a:endParaRPr b="0" lang="fr-F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75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39640" indent="-270000" defTabSz="914400">
              <a:lnSpc>
                <a:spcPts val="375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5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Communication: Microsoft Teams + e-mail</a:t>
            </a:r>
            <a:endParaRPr b="0" lang="fr-F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75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39640" indent="-270000" defTabSz="914400">
              <a:lnSpc>
                <a:spcPts val="375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5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Diagrammes et documents: Draw.io, documents téchniques rédigés en Markdown</a:t>
            </a:r>
            <a:endParaRPr b="0" lang="fr-F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5211360" y="1028880"/>
            <a:ext cx="7865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72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rgbClr val="a6004c"/>
                </a:solidFill>
                <a:effectLst/>
                <a:uFillTx/>
                <a:latin typeface="Open Sans Bold"/>
                <a:ea typeface="Open Sans Bold"/>
              </a:rPr>
              <a:t>Outils techniques</a:t>
            </a:r>
            <a:endParaRPr b="0" lang="fr-F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roup 48"/>
          <p:cNvGrpSpPr/>
          <p:nvPr/>
        </p:nvGrpSpPr>
        <p:grpSpPr>
          <a:xfrm>
            <a:off x="654120" y="8583120"/>
            <a:ext cx="1248480" cy="1349640"/>
            <a:chOff x="654120" y="8583120"/>
            <a:chExt cx="1248480" cy="1349640"/>
          </a:xfrm>
        </p:grpSpPr>
        <p:sp>
          <p:nvSpPr>
            <p:cNvPr id="64" name="Freeform 36" descr="Logo ENSEA 2021 quadri.psd"/>
            <p:cNvSpPr/>
            <p:nvPr/>
          </p:nvSpPr>
          <p:spPr>
            <a:xfrm>
              <a:off x="654120" y="8583120"/>
              <a:ext cx="1248480" cy="1349640"/>
            </a:xfrm>
            <a:custGeom>
              <a:avLst/>
              <a:gdLst>
                <a:gd name="textAreaLeft" fmla="*/ 0 w 1248480"/>
                <a:gd name="textAreaRight" fmla="*/ 1248840 w 1248480"/>
                <a:gd name="textAreaTop" fmla="*/ 0 h 1349640"/>
                <a:gd name="textAreaBottom" fmla="*/ 1350000 h 1349640"/>
              </a:gdLst>
              <a:ahLst/>
              <a:cxnLst/>
              <a:rect l="textAreaLeft" t="textAreaTop" r="textAreaRight" b="textAreaBottom"/>
              <a:pathLst>
                <a:path w="3217672" h="3478276">
                  <a:moveTo>
                    <a:pt x="0" y="0"/>
                  </a:moveTo>
                  <a:lnTo>
                    <a:pt x="3217672" y="0"/>
                  </a:lnTo>
                  <a:lnTo>
                    <a:pt x="3217672" y="3478276"/>
                  </a:lnTo>
                  <a:lnTo>
                    <a:pt x="0" y="347827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5" name="" descr=""/>
          <p:cNvPicPr/>
          <p:nvPr/>
        </p:nvPicPr>
        <p:blipFill>
          <a:blip r:embed="rId3"/>
          <a:stretch/>
        </p:blipFill>
        <p:spPr>
          <a:xfrm>
            <a:off x="6925680" y="2369160"/>
            <a:ext cx="10941120" cy="6990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4"/>
          <p:cNvGrpSpPr/>
          <p:nvPr/>
        </p:nvGrpSpPr>
        <p:grpSpPr>
          <a:xfrm>
            <a:off x="0" y="6070680"/>
            <a:ext cx="18278280" cy="4230000"/>
            <a:chOff x="0" y="6070680"/>
            <a:chExt cx="18278280" cy="4230000"/>
          </a:xfrm>
        </p:grpSpPr>
        <p:sp>
          <p:nvSpPr>
            <p:cNvPr id="67" name="Freeform 2" descr="der 16-9 25-03.jpg"/>
            <p:cNvSpPr/>
            <p:nvPr/>
          </p:nvSpPr>
          <p:spPr>
            <a:xfrm>
              <a:off x="0" y="6070680"/>
              <a:ext cx="18278280" cy="4230000"/>
            </a:xfrm>
            <a:custGeom>
              <a:avLst/>
              <a:gdLst>
                <a:gd name="textAreaLeft" fmla="*/ 0 w 18278280"/>
                <a:gd name="textAreaRight" fmla="*/ 18278640 w 18278280"/>
                <a:gd name="textAreaTop" fmla="*/ 0 h 4230000"/>
                <a:gd name="textAreaBottom" fmla="*/ 4230360 h 4230000"/>
              </a:gdLst>
              <a:ahLst/>
              <a:cxnLst/>
              <a:rect l="textAreaLeft" t="textAreaTop" r="textAreaRight" b="textAreaBottom"/>
              <a:pathLst>
                <a:path w="24371300" h="5640451">
                  <a:moveTo>
                    <a:pt x="0" y="0"/>
                  </a:moveTo>
                  <a:lnTo>
                    <a:pt x="24371300" y="0"/>
                  </a:lnTo>
                  <a:lnTo>
                    <a:pt x="24371300" y="5640451"/>
                  </a:lnTo>
                  <a:lnTo>
                    <a:pt x="0" y="564045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10"/>
          <p:cNvSpPr/>
          <p:nvPr/>
        </p:nvSpPr>
        <p:spPr>
          <a:xfrm>
            <a:off x="5211360" y="1028880"/>
            <a:ext cx="7865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72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rgbClr val="a6004c"/>
                </a:solidFill>
                <a:effectLst/>
                <a:uFillTx/>
                <a:latin typeface="Open Sans Bold"/>
                <a:ea typeface="Open Sans Bold"/>
              </a:rPr>
              <a:t>Bilan final</a:t>
            </a:r>
            <a:endParaRPr b="0" lang="fr-F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Group 6"/>
          <p:cNvGrpSpPr/>
          <p:nvPr/>
        </p:nvGrpSpPr>
        <p:grpSpPr>
          <a:xfrm>
            <a:off x="654120" y="8583120"/>
            <a:ext cx="1248480" cy="1349640"/>
            <a:chOff x="654120" y="8583120"/>
            <a:chExt cx="1248480" cy="1349640"/>
          </a:xfrm>
        </p:grpSpPr>
        <p:sp>
          <p:nvSpPr>
            <p:cNvPr id="70" name="Freeform 5" descr="Logo ENSEA 2021 quadri.psd"/>
            <p:cNvSpPr/>
            <p:nvPr/>
          </p:nvSpPr>
          <p:spPr>
            <a:xfrm>
              <a:off x="654120" y="8583120"/>
              <a:ext cx="1248480" cy="1349640"/>
            </a:xfrm>
            <a:custGeom>
              <a:avLst/>
              <a:gdLst>
                <a:gd name="textAreaLeft" fmla="*/ 0 w 1248480"/>
                <a:gd name="textAreaRight" fmla="*/ 1248840 w 1248480"/>
                <a:gd name="textAreaTop" fmla="*/ 0 h 1349640"/>
                <a:gd name="textAreaBottom" fmla="*/ 1350000 h 1349640"/>
              </a:gdLst>
              <a:ahLst/>
              <a:cxnLst/>
              <a:rect l="textAreaLeft" t="textAreaTop" r="textAreaRight" b="textAreaBottom"/>
              <a:pathLst>
                <a:path w="3217672" h="3478276">
                  <a:moveTo>
                    <a:pt x="0" y="0"/>
                  </a:moveTo>
                  <a:lnTo>
                    <a:pt x="3217672" y="0"/>
                  </a:lnTo>
                  <a:lnTo>
                    <a:pt x="3217672" y="3478276"/>
                  </a:lnTo>
                  <a:lnTo>
                    <a:pt x="0" y="347827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71" name=""/>
          <p:cNvGraphicFramePr/>
          <p:nvPr/>
        </p:nvGraphicFramePr>
        <p:xfrm>
          <a:off x="720000" y="2700000"/>
          <a:ext cx="16740000" cy="4680000"/>
        </p:xfrm>
        <a:graphic>
          <a:graphicData uri="http://schemas.openxmlformats.org/drawingml/2006/table">
            <a:tbl>
              <a:tblPr/>
              <a:tblGrid>
                <a:gridCol w="8368560"/>
                <a:gridCol w="8371440"/>
              </a:tblGrid>
              <a:tr h="11696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fr-FR" sz="2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Points positifs</a:t>
                      </a:r>
                      <a:endParaRPr b="0" lang="fr-FR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endParaRPr b="0" lang="fr-FR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62e4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Une communication efficace a été maintenue entre les différents groupes, facilitant la coordination générale du projet.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Chaque groupe a produit une documentation bien structurée et accompagnée de ressources pertinentes, ce qui a contribué à une meilleure compréhension globale du système.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62e4e"/>
                    </a:solidFill>
                  </a:tcPr>
                </a:tc>
              </a:tr>
              <a:tr h="11696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fr-FR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Points d’amélioration</a:t>
                      </a:r>
                      <a:endParaRPr b="0" lang="fr-F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ec9ba4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Une analyse plus approfondie des documents fournis par le client aurait permis d’éviter certaines discussions internes et externes.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La communication avec le client pourrait être optimisée afin de réduire le nombre de points de clarification nécessaires au cours du projet.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Une utilisation et mise à jour plus fréquentes du dépôt de projet sur GitHub amélioreraient l’organisation et la coordination entre les groupes.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ec9ba4"/>
                    </a:solidFill>
                  </a:tcPr>
                </a:tc>
              </a:tr>
              <a:tr h="11696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fr-FR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Difficultés rencontrés</a:t>
                      </a:r>
                      <a:endParaRPr b="0" lang="fr-F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1d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Il a souvent été nécessaire de rafraîchir l’état des activités à chaque session à cause des séances de TP n’étant pas conjointes.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Les contraintes de temps ont limité la possibilité de développer certaines fonctionnalités.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1d5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LibreOffice/25.2.6.2$Linux_X86_64 LibreOffice_project/40d1a0e1d5bdf1afaeae24d9ece32bbb00fa66a4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DAG2VGbS3IA</dc:identifier>
  <dc:language>pt-BR</dc:language>
  <cp:lastModifiedBy/>
  <dcterms:modified xsi:type="dcterms:W3CDTF">2025-12-08T15:11:59Z</dcterms:modified>
  <cp:revision>6</cp:revision>
  <dc:subject/>
  <dc:title>Projet Génie Logiciel ENSEA - État du travail - v1.0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